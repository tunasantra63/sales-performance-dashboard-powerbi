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8.jpg"/><Relationship Id="rId8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jpg"/><Relationship Id="rId9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3A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SUPERMARKET SALES
ANALYSIS</a:t>
            </a:r>
          </a:p>
          <a:p>
            <a:pPr>
              <a:spcBef>
                <a:spcPts val="1600"/>
              </a:spcBef>
            </a:pPr>
            <a:r>
              <a:rPr sz="2100">
                <a:solidFill>
                  <a:srgbClr val="CDDCEB"/>
                </a:solidFill>
              </a:rPr>
              <a:t>Power BI Dashboard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0"/>
            <a:ext cx="9144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43AABF"/>
                </a:solidFill>
              </a:rPr>
              <a:t>Anudip Foundation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FFFFFF"/>
                </a:solidFill>
              </a:rPr>
              <a:t>Presented by: Tuna Santra &amp; Mainak Das</a:t>
            </a:r>
          </a:p>
        </p:txBody>
      </p:sp>
      <p:pic>
        <p:nvPicPr>
          <p:cNvPr id="6" name="Picture 5" descr="54dc92f8-3704-4c66-9902-1d382e06ce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320040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584"/>
                </a:solidFill>
              </a:rPr>
              <a:t>Sales data is transformed into an interactive dashboard for analysis and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B34"/>
                </a:solidFill>
              </a:defRPr>
            </a:pPr>
            <a:r>
              <a:t>Analyze overall sales, profit, quantity and delivery performance.</a:t>
            </a:r>
          </a:p>
          <a:p>
            <a:pPr>
              <a:spcAft>
                <a:spcPts val="1100"/>
              </a:spcAft>
              <a:defRPr sz="2000">
                <a:solidFill>
                  <a:srgbClr val="232B34"/>
                </a:solidFill>
              </a:defRPr>
            </a:pPr>
            <a:r>
              <a:t>Compare product categories and sub-categories.</a:t>
            </a:r>
          </a:p>
          <a:p>
            <a:pPr>
              <a:spcAft>
                <a:spcPts val="1100"/>
              </a:spcAft>
              <a:defRPr sz="2000">
                <a:solidFill>
                  <a:srgbClr val="232B34"/>
                </a:solidFill>
              </a:defRPr>
            </a:pPr>
            <a:r>
              <a:t>Understand performance across states and regions.</a:t>
            </a:r>
          </a:p>
          <a:p>
            <a:pPr>
              <a:spcAft>
                <a:spcPts val="1100"/>
              </a:spcAft>
              <a:defRPr sz="2000">
                <a:solidFill>
                  <a:srgbClr val="232B34"/>
                </a:solidFill>
              </a:defRPr>
            </a:pPr>
            <a:r>
              <a:t>Analyze customer segments and payment methods.</a:t>
            </a:r>
          </a:p>
          <a:p>
            <a:pPr>
              <a:spcAft>
                <a:spcPts val="1100"/>
              </a:spcAft>
              <a:defRPr sz="2000">
                <a:solidFill>
                  <a:srgbClr val="232B34"/>
                </a:solidFill>
              </a:defRPr>
            </a:pPr>
            <a:r>
              <a:t>Track sales and profit trends over time.</a:t>
            </a:r>
          </a:p>
          <a:p>
            <a:pPr>
              <a:spcAft>
                <a:spcPts val="1100"/>
              </a:spcAft>
              <a:defRPr sz="2000">
                <a:solidFill>
                  <a:srgbClr val="232B34"/>
                </a:solidFill>
              </a:defRPr>
            </a:pPr>
            <a:r>
              <a:t>Use interactive slicers to explore the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584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F"/>
                </a:solidFill>
              </a:rPr>
              <a:t>Dataset &amp; Key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584"/>
                </a:solidFill>
              </a:rPr>
              <a:t>The supplied Power BI report references the following analytical fields.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Financial</a:t>
            </a:r>
          </a:p>
          <a:p>
            <a:r>
              <a:rPr sz="1200">
                <a:solidFill>
                  <a:srgbClr val="697584"/>
                </a:solidFill>
              </a:rPr>
              <a:t>Sales • Profit • Quantity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Product</a:t>
            </a:r>
          </a:p>
          <a:p>
            <a:r>
              <a:rPr sz="1200">
                <a:solidFill>
                  <a:srgbClr val="697584"/>
                </a:solidFill>
              </a:rPr>
              <a:t>Category • Sub-Category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Geography</a:t>
            </a:r>
          </a:p>
          <a:p>
            <a:r>
              <a:rPr sz="1200">
                <a:solidFill>
                  <a:srgbClr val="697584"/>
                </a:solidFill>
              </a:rPr>
              <a:t>State •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51460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Customer</a:t>
            </a:r>
          </a:p>
          <a:p>
            <a:r>
              <a:rPr sz="1200">
                <a:solidFill>
                  <a:srgbClr val="697584"/>
                </a:solidFill>
              </a:rPr>
              <a:t>Segment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0332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Payment</a:t>
            </a:r>
          </a:p>
          <a:p>
            <a:r>
              <a:rPr sz="1200">
                <a:solidFill>
                  <a:srgbClr val="697584"/>
                </a:solidFill>
              </a:rPr>
              <a:t>Payment 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70332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Time</a:t>
            </a:r>
          </a:p>
          <a:p>
            <a:r>
              <a:rPr sz="1200">
                <a:solidFill>
                  <a:srgbClr val="697584"/>
                </a:solidFill>
              </a:rPr>
              <a:t>Order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920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Operations</a:t>
            </a:r>
          </a:p>
          <a:p>
            <a:r>
              <a:rPr sz="1200">
                <a:solidFill>
                  <a:srgbClr val="697584"/>
                </a:solidFill>
              </a:rPr>
              <a:t>AvgDelivery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58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F"/>
                </a:solidFill>
              </a:rPr>
              <a:t>Power BI Dashboard – Full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584"/>
                </a:solidFill>
              </a:rPr>
              <a:t>Screenshot recreated from the supplied Power BI report definition.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584"/>
                </a:solidFill>
              </a:rPr>
              <a:t>4</a:t>
            </a:r>
          </a:p>
        </p:txBody>
      </p:sp>
      <p:pic>
        <p:nvPicPr>
          <p:cNvPr id="7" name="Picture 6" descr="8f7a3133-007a-4d53-abb2-a0c1a92729b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11430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F"/>
                </a:solidFill>
              </a:rPr>
              <a:t>Dashboard – Visual &amp; Slicer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584"/>
                </a:solidFill>
              </a:rPr>
              <a:t>The report contains KPI cards, charts, map visuals and a Region slicer.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584"/>
                </a:solidFill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160520"/>
            <a:ext cx="4069080" cy="1554480"/>
          </a:xfrm>
          <a:prstGeom prst="roundRect">
            <a:avLst/>
          </a:prstGeom>
          <a:solidFill>
            <a:srgbClr val="F9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66B0"/>
                </a:solidFill>
              </a:rPr>
              <a:t>Geographic Analysis</a:t>
            </a:r>
          </a:p>
          <a:p>
            <a:r>
              <a:rPr sz="1050">
                <a:solidFill>
                  <a:srgbClr val="46505F"/>
                </a:solidFill>
              </a:rPr>
              <a:t>The dashboard includes a state-level geographic view. The captured Power BI environment did not render the map visual, so the map above presents the state-level values visible in the dashboard for presentation.</a:t>
            </a:r>
          </a:p>
        </p:txBody>
      </p:sp>
      <p:pic>
        <p:nvPicPr>
          <p:cNvPr id="10" name="Picture 9" descr="4d81c103-9c2d-473f-996a-7ad9b1d87f5c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1234440"/>
            <a:ext cx="8001000" cy="45445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732520" y="1417320"/>
            <a:ext cx="2880360" cy="4297680"/>
          </a:xfrm>
          <a:prstGeom prst="roundRect">
            <a:avLst/>
          </a:prstGeom>
          <a:solidFill>
            <a:srgbClr val="F9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09728"/>
          <a:lstStyle/>
          <a:p>
            <a:pPr algn="ctr"/>
            <a:r>
              <a:rPr sz="1800" b="1">
                <a:solidFill>
                  <a:srgbClr val="2B66B0"/>
                </a:solidFill>
              </a:rPr>
              <a:t>Geography Analysis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4B5767"/>
                </a:solidFill>
              </a:rPr>
              <a:t>The dashboard includes a state-level geographic visual showing both Sales and Profit.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4263F"/>
                </a:solidFill>
              </a:rPr>
              <a:t>State comparison
</a:t>
            </a:r>
            <a:r>
              <a:rPr sz="950">
                <a:solidFill>
                  <a:srgbClr val="4B5767"/>
                </a:solidFill>
              </a:rPr>
              <a:t>The map allows geographic differences in sales and profit to be viewed across states.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4263F"/>
                </a:solidFill>
              </a:rPr>
              <a:t>Interactive filtering
</a:t>
            </a:r>
            <a:r>
              <a:rPr sz="950">
                <a:solidFill>
                  <a:srgbClr val="4B5767"/>
                </a:solidFill>
              </a:rPr>
              <a:t>The Central, East, South and West slicer changes the geographic and other dashboard visuals.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4263F"/>
                </a:solidFill>
              </a:rPr>
              <a:t>Central-region example
</a:t>
            </a:r>
            <a:r>
              <a:rPr sz="950">
                <a:solidFill>
                  <a:srgbClr val="4B5767"/>
                </a:solidFill>
              </a:rPr>
              <a:t>Illinois and Texas are visible in the supplied Central-region dashboard.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4263F"/>
                </a:solidFill>
              </a:rPr>
              <a:t>West-region example
</a:t>
            </a:r>
            <a:r>
              <a:rPr sz="950">
                <a:solidFill>
                  <a:srgbClr val="4B5767"/>
                </a:solidFill>
              </a:rPr>
              <a:t>Washington, Colorado and California are visible in the supplied West-region dashboard.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4263F"/>
                </a:solidFill>
              </a:rPr>
              <a:t>Business value
</a:t>
            </a:r>
            <a:r>
              <a:rPr sz="950">
                <a:solidFill>
                  <a:srgbClr val="4B5767"/>
                </a:solidFill>
              </a:rPr>
              <a:t>Geographic analysis helps identify locations contributing strongly to sales and profit and areas for further 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F"/>
                </a:solidFill>
              </a:rPr>
              <a:t>Dashboard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584"/>
                </a:solidFill>
              </a:rPr>
              <a:t>Main Power BI components visible in the supplied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KPI Cards</a:t>
            </a:r>
          </a:p>
          <a:p>
            <a:r>
              <a:rPr sz="1150">
                <a:solidFill>
                  <a:srgbClr val="697584"/>
                </a:solidFill>
              </a:rPr>
              <a:t>Sales, Profit, Quantity and Average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Product Analysis</a:t>
            </a:r>
          </a:p>
          <a:p>
            <a:r>
              <a:rPr sz="1150">
                <a:solidFill>
                  <a:srgbClr val="697584"/>
                </a:solidFill>
              </a:rPr>
              <a:t>Category and Sub-Category sales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Trend Analysis</a:t>
            </a:r>
          </a:p>
          <a:p>
            <a:r>
              <a:rPr sz="1150">
                <a:solidFill>
                  <a:srgbClr val="697584"/>
                </a:solidFill>
              </a:rPr>
              <a:t>Monthly Sales and Monthly 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5146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Geographic Analysis</a:t>
            </a:r>
          </a:p>
          <a:p>
            <a:r>
              <a:rPr sz="1150">
                <a:solidFill>
                  <a:srgbClr val="697584"/>
                </a:solidFill>
              </a:rPr>
              <a:t>State chart and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49039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Customer Analysis</a:t>
            </a:r>
          </a:p>
          <a:p>
            <a:r>
              <a:rPr sz="1150">
                <a:solidFill>
                  <a:srgbClr val="697584"/>
                </a:solidFill>
              </a:rPr>
              <a:t>Segment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749039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Payment Analysis</a:t>
            </a:r>
          </a:p>
          <a:p>
            <a:r>
              <a:rPr sz="1150">
                <a:solidFill>
                  <a:srgbClr val="697584"/>
                </a:solidFill>
              </a:rPr>
              <a:t>Payment-method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8348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Interactivity</a:t>
            </a:r>
          </a:p>
          <a:p>
            <a:r>
              <a:rPr sz="1150">
                <a:solidFill>
                  <a:srgbClr val="697584"/>
                </a:solidFill>
              </a:rPr>
              <a:t>Region slicer filters the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584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F"/>
                </a:solidFill>
              </a:rPr>
              <a:t>Business Questions the Dashboard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</a:defRPr>
            </a:pPr>
            <a:r>
              <a:t>How are total sales, profit and quantity performing?</a:t>
            </a:r>
          </a:p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</a:defRPr>
            </a:pPr>
            <a:r>
              <a:t>Which categories and sub-categories generate the most sales?</a:t>
            </a:r>
          </a:p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</a:defRPr>
            </a:pPr>
            <a:r>
              <a:t>How does performance differ between states and regions?</a:t>
            </a:r>
          </a:p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</a:defRPr>
            </a:pPr>
            <a:r>
              <a:t>Which customer segments contribute to sales?</a:t>
            </a:r>
          </a:p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</a:defRPr>
            </a:pPr>
            <a:r>
              <a:t>Which payment methods are most commonly represented?</a:t>
            </a:r>
          </a:p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</a:defRPr>
            </a:pPr>
            <a:r>
              <a:t>How do sales and profit change month by month?</a:t>
            </a:r>
          </a:p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</a:defRPr>
            </a:pPr>
            <a:r>
              <a:t>How does the selected Region affect the other visuals?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58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F"/>
                </a:solidFill>
              </a:rPr>
              <a:t>Project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530352" cy="530352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8448" y="1353312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Data</a:t>
            </a:r>
          </a:p>
          <a:p>
            <a:r>
              <a:rPr sz="1100">
                <a:solidFill>
                  <a:srgbClr val="697584"/>
                </a:solidFill>
              </a:rPr>
              <a:t>Collect and inspect the sales dataset.</a:t>
            </a:r>
          </a:p>
        </p:txBody>
      </p:sp>
      <p:sp>
        <p:nvSpPr>
          <p:cNvPr id="6" name="Oval 5"/>
          <p:cNvSpPr/>
          <p:nvPr/>
        </p:nvSpPr>
        <p:spPr>
          <a:xfrm>
            <a:off x="4480560" y="1371600"/>
            <a:ext cx="530352" cy="530352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1353312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Preparation</a:t>
            </a:r>
          </a:p>
          <a:p>
            <a:r>
              <a:rPr sz="1100">
                <a:solidFill>
                  <a:srgbClr val="697584"/>
                </a:solidFill>
              </a:rPr>
              <a:t>Check fields, dates and data quality.</a:t>
            </a:r>
          </a:p>
        </p:txBody>
      </p:sp>
      <p:sp>
        <p:nvSpPr>
          <p:cNvPr id="8" name="Oval 7"/>
          <p:cNvSpPr/>
          <p:nvPr/>
        </p:nvSpPr>
        <p:spPr>
          <a:xfrm>
            <a:off x="8321040" y="1371600"/>
            <a:ext cx="530352" cy="530352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9408" y="1353312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Power BI</a:t>
            </a:r>
          </a:p>
          <a:p>
            <a:r>
              <a:rPr sz="1100">
                <a:solidFill>
                  <a:srgbClr val="697584"/>
                </a:solidFill>
              </a:rPr>
              <a:t>Load the data and build the report.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20440"/>
            <a:ext cx="530352" cy="530352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8448" y="3502152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Visualization</a:t>
            </a:r>
          </a:p>
          <a:p>
            <a:r>
              <a:rPr sz="1100">
                <a:solidFill>
                  <a:srgbClr val="697584"/>
                </a:solidFill>
              </a:rPr>
              <a:t>Create KPI cards, charts and map.</a:t>
            </a:r>
          </a:p>
        </p:txBody>
      </p:sp>
      <p:sp>
        <p:nvSpPr>
          <p:cNvPr id="12" name="Oval 11"/>
          <p:cNvSpPr/>
          <p:nvPr/>
        </p:nvSpPr>
        <p:spPr>
          <a:xfrm>
            <a:off x="4480560" y="3520440"/>
            <a:ext cx="530352" cy="530352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8" y="3502152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Slicers</a:t>
            </a:r>
          </a:p>
          <a:p>
            <a:r>
              <a:rPr sz="1100">
                <a:solidFill>
                  <a:srgbClr val="697584"/>
                </a:solidFill>
              </a:rPr>
              <a:t>Add Region filtering for interaction.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3520440"/>
            <a:ext cx="530352" cy="530352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9408" y="3502152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B66B0"/>
                </a:solidFill>
              </a:rPr>
              <a:t>Presentation</a:t>
            </a:r>
          </a:p>
          <a:p>
            <a:r>
              <a:rPr sz="1100">
                <a:solidFill>
                  <a:srgbClr val="697584"/>
                </a:solidFill>
              </a:rPr>
              <a:t>Use visuals to communicate findings.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584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51460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3AABF"/>
                </a:solidFill>
              </a:rPr>
              <a:t>Anudip Foundation</a:t>
            </a:r>
          </a:p>
          <a:p>
            <a:pPr>
              <a:spcBef>
                <a:spcPts val="1200"/>
              </a:spcBef>
            </a:pPr>
            <a:r>
              <a:rPr sz="1900">
                <a:solidFill>
                  <a:srgbClr val="D7E1EB"/>
                </a:solidFill>
              </a:rPr>
              <a:t>Supermarket Sales Analysis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FFFFFF"/>
                </a:solidFill>
              </a:rPr>
              <a:t>Tuna Santra  •  Mainak 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